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308" r:id="rId5"/>
    <p:sldId id="315" r:id="rId6"/>
    <p:sldId id="316" r:id="rId7"/>
    <p:sldId id="309" r:id="rId8"/>
    <p:sldId id="313" r:id="rId9"/>
    <p:sldId id="314" r:id="rId10"/>
    <p:sldId id="311" r:id="rId11"/>
    <p:sldId id="31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59D8547F-B3C6-41B7-AC15-B21357C26C2E}">
          <p14:sldIdLst/>
        </p14:section>
        <p14:section name="Title/intro examples" id="{EAFC2341-9A9E-4C28-BFFA-6B825D0AC4BA}">
          <p14:sldIdLst>
            <p14:sldId id="308"/>
            <p14:sldId id="315"/>
            <p14:sldId id="316"/>
            <p14:sldId id="309"/>
            <p14:sldId id="313"/>
            <p14:sldId id="314"/>
            <p14:sldId id="311"/>
            <p14:sldId id="312"/>
          </p14:sldIdLst>
        </p14:section>
        <p14:section name="Section divider examples" id="{A9F40A45-B498-491F-B229-1F4185ACF804}">
          <p14:sldIdLst/>
        </p14:section>
        <p14:section name="Content slide examples" id="{C335665F-6942-4633-9A59-9BC53EDA1E36}">
          <p14:sldIdLst/>
        </p14:section>
        <p14:section name="Closing slide example" id="{11C5BCDD-05AC-405B-8582-D9D1C38F3D1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EB81"/>
    <a:srgbClr val="E6DCFF"/>
    <a:srgbClr val="0041F0"/>
    <a:srgbClr val="DCAFFF"/>
    <a:srgbClr val="FF50A0"/>
    <a:srgbClr val="FF3246"/>
    <a:srgbClr val="00FFFF"/>
    <a:srgbClr val="D4D4D4"/>
    <a:srgbClr val="BE8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45" autoAdjust="0"/>
  </p:normalViewPr>
  <p:slideViewPr>
    <p:cSldViewPr snapToGrid="0" showGuides="1">
      <p:cViewPr varScale="1">
        <p:scale>
          <a:sx n="105" d="100"/>
          <a:sy n="105" d="100"/>
        </p:scale>
        <p:origin x="216" y="6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1/28/26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Arial" panose="020B0604020202020204" pitchFamily="34" charset="0"/>
      <a:buChar char="•"/>
      <a:defRPr sz="1000">
        <a:latin typeface="+mn-lt"/>
      </a:defRPr>
    </a:lvl2pPr>
    <a:lvl3pPr marL="342900" indent="-112713" algn="l">
      <a:buFont typeface="Arial" panose="020B0604020202020204" pitchFamily="34" charset="0"/>
      <a:buChar char="•"/>
      <a:defRPr sz="900">
        <a:latin typeface="+mn-lt"/>
      </a:defRPr>
    </a:lvl3pPr>
    <a:lvl4pPr marL="460375" indent="-112713" algn="l">
      <a:buFont typeface="Arial" panose="020B0604020202020204" pitchFamily="34" charset="0"/>
      <a:buChar char="•"/>
      <a:defRPr sz="800">
        <a:latin typeface="+mn-lt"/>
      </a:defRPr>
    </a:lvl4pPr>
    <a:lvl5pPr marL="571500" indent="-112713" algn="l">
      <a:buFont typeface="Arial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55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3608" userDrawn="1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0055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2160" userDrawn="1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70882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61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06091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48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05" userDrawn="1">
          <p15:clr>
            <a:srgbClr val="C35EA4"/>
          </p15:clr>
        </p15:guide>
        <p15:guide id="2" pos="3840" userDrawn="1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Palatino Linotyp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Palatino Linotyp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3053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696" userDrawn="1">
          <p15:clr>
            <a:srgbClr val="C35EA4"/>
          </p15:clr>
        </p15:guide>
        <p15:guide id="2" pos="3840" userDrawn="1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856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5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0292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0501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Arial" panose="020B0604020202020204" pitchFamily="34" charset="0"/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00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5399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562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190292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1964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8849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3729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5906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 dirty="0"/>
              <a:t>Add client 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355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554CD-E019-4C08-B5A4-5F61D7C5C77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6E358-2729-446E-A347-B15F9BDA98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BA78113E-7EB8-4DE2-8CBF-D29C62304622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8215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E763AAD7-74C8-41FD-9725-0A3F857D6E2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86000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Palatino Linotype" pitchFamily="2" charset="77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CD7EB03D-A4F9-4B94-8D66-50E64636E3D7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06131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agenda summary </a:t>
            </a:r>
            <a:r>
              <a:rPr lang="en-GB" dirty="0"/>
              <a:t>here in Palatino Linotype 24pt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Agenda title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AC36967-E06B-4969-8A84-34414BB2719E}"/>
              </a:ext>
            </a:extLst>
          </p:cNvPr>
          <p:cNvSpPr>
            <a:spLocks noGrp="1"/>
          </p:cNvSpPr>
          <p:nvPr>
            <p:ph type="dt" sz="half" idx="5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9FC62F-A91E-4A96-A8DD-B514B9CC7898}"/>
              </a:ext>
            </a:extLst>
          </p:cNvPr>
          <p:cNvSpPr>
            <a:spLocks noGrp="1"/>
          </p:cNvSpPr>
          <p:nvPr>
            <p:ph type="sldNum" sz="quarter" idx="5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876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B97E9-6648-4C18-B41E-51CD1E7E366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F08054-D45D-43B9-A715-CB9811EA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085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8EF8B7-9D2C-4DDE-ABE1-8FC06C7B0A1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E4BD60C-9F72-40D7-86A8-E9D46FD1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117A191-D16A-460E-B7BA-7BF7C04A205B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90092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61201FE-E268-4CDE-95EA-46510FB9E57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3EBB-4B76-4B76-A883-A5F8C55DD75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445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 userDrawn="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sub-headline here </a:t>
            </a:r>
            <a:r>
              <a:rPr lang="en-GB" dirty="0"/>
              <a:t>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Place text here 20pt</a:t>
            </a:r>
          </a:p>
          <a:p>
            <a:pPr lvl="1"/>
            <a:r>
              <a:rPr lang="en-US" dirty="0"/>
              <a:t>Second level 20pt</a:t>
            </a:r>
          </a:p>
          <a:p>
            <a:pPr lvl="2"/>
            <a:r>
              <a:rPr lang="en-US" dirty="0"/>
              <a:t>Third level 20pt</a:t>
            </a:r>
          </a:p>
          <a:p>
            <a:pPr lvl="3"/>
            <a:r>
              <a:rPr lang="en-US" dirty="0"/>
              <a:t>Fourth level 18pt</a:t>
            </a:r>
          </a:p>
          <a:p>
            <a:pPr lvl="4"/>
            <a:r>
              <a:rPr lang="en-US" dirty="0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2282C-BD3B-4F10-981C-FDEEBAADFF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98C7D2-83A7-4A9C-99DF-E18DFFFE1B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85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 userDrawn="1">
          <p15:clr>
            <a:srgbClr val="C35E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202BE-D67B-4652-93F1-A99CED0D15E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C61CF-EB8A-421E-B9B8-AA3A4D90D3F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4209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CFCDC-02F2-450B-8A41-6D602E21D74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D73D0-E25F-4121-B46E-C977B93C854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74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D801770-C3F9-4ABD-9427-010C745B605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BFFAF-2A5A-4146-8785-B71A2FFAD78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450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141B1F-78D9-4953-A12A-4B67B6AF38A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296DA2C-092A-4DF9-A6E7-8B070164528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99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5C63E-F15E-4C0B-AF50-21103AC68C3B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D5FEE-951C-4AB1-A5BA-733E8D6B70A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975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E443840-6E6B-4EB9-979C-F63E32C2A658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5531F-1F72-4FFD-8F72-619B3652C1F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126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solidFill>
                  <a:schemeClr val="accent2"/>
                </a:solidFill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3109A-368D-4DCA-B078-4A0F050889E0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0C8D5-C033-461A-958D-290DCBC41F1C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186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F35D7-1CC8-4C79-A1E0-8638A1ED7CAD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01404-8E34-4C2F-8D99-239BD7B88412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034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Arial" panose="020B0604020202020204" pitchFamily="34" charset="0"/>
              <a:buNone/>
              <a:defRPr sz="21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84481-1B7D-4FEF-AD70-CBFD72F62133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B611A-32AD-4363-9F59-4DD34EEBD070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0E5A3736-C9C6-4311-80A7-2FFA47E25154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26028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Place text here, use indent to access other levels 20pt</a:t>
            </a:r>
          </a:p>
          <a:p>
            <a:pPr lvl="1"/>
            <a:r>
              <a:rPr lang="en-GB" dirty="0"/>
              <a:t>Second level 20pt</a:t>
            </a:r>
          </a:p>
          <a:p>
            <a:pPr lvl="2"/>
            <a:r>
              <a:rPr lang="en-GB" dirty="0"/>
              <a:t>Third level 20pt</a:t>
            </a:r>
          </a:p>
          <a:p>
            <a:pPr lvl="3"/>
            <a:r>
              <a:rPr lang="en-GB" dirty="0"/>
              <a:t>Fourth level 18pt</a:t>
            </a:r>
          </a:p>
          <a:p>
            <a:pPr lvl="4"/>
            <a:r>
              <a:rPr lang="en-GB" dirty="0"/>
              <a:t>Fifth level 18pt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Arial" panose="020B0604020202020204" pitchFamily="34" charset="0"/>
              <a:buNone/>
              <a:defRPr sz="1800" b="0" i="0">
                <a:latin typeface="Palatino Linotype" panose="02040502050505030304" pitchFamily="18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Arial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30291C7-0C7B-43D2-8CFC-304243A1CD04}"/>
              </a:ext>
            </a:extLst>
          </p:cNvPr>
          <p:cNvSpPr>
            <a:spLocks noGrp="1"/>
          </p:cNvSpPr>
          <p:nvPr>
            <p:ph type="dt" sz="half" idx="6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EADAF-2195-4A35-8FEB-B95CCB8CCE5C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9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Drag picture to placeholder or click icon to add, then ‘Send to Back’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/>
            </a:lvl2pPr>
            <a:lvl3pPr marL="457200">
              <a:buFont typeface="Arial" panose="020B0503030202060203" pitchFamily="34" charset="0"/>
              <a:buChar char="–"/>
              <a:defRPr sz="1800"/>
            </a:lvl3pPr>
            <a:lvl4pPr marL="685800">
              <a:buFont typeface="Arial" panose="020B0604020202020204" pitchFamily="34" charset="0"/>
              <a:buChar char="•"/>
              <a:defRPr sz="1600"/>
            </a:lvl4pPr>
            <a:lvl5pPr marL="914400">
              <a:buFont typeface="Arial" panose="020B0503030202060203" pitchFamily="34" charset="0"/>
              <a:buChar char="–"/>
              <a:defRPr sz="1600"/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sub-headline here </a:t>
            </a:r>
            <a:r>
              <a:rPr lang="en-GB" dirty="0"/>
              <a:t>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84FC82-B8F8-4C4C-8DB2-C1B82A51B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C32B40-3B58-479B-A589-9823B0E14C8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8D53ECFC-028B-4E16-9620-7FF8225BDC2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80181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Palatino Linotype" panose="02040502050505030304" pitchFamily="18" charset="0"/>
              </a:defRPr>
            </a:lvl1pPr>
            <a:lvl2pPr marL="228600" indent="-228600"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Arial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Arial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marL="0" marR="0" lvl="0" indent="0" algn="l" defTabSz="228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sub-headline here</a:t>
            </a:r>
            <a:r>
              <a:rPr lang="en-GB" dirty="0"/>
              <a:t> in Palatino Linotype 24pt</a:t>
            </a:r>
            <a:r>
              <a:rPr lang="en-US" dirty="0"/>
              <a:t>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BDB60-63D2-4785-893C-E73763A3728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511C9-42FA-4DE8-9CC5-2E1BE2E664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F77C3923-DF26-4DDD-85E3-7AA6D35E27BF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49180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CC36B3-A978-4435-96FC-F8B3A1FA66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BAD95D-8CC0-461D-B13E-1E3ABF74564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11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86A7A-D9D5-47DA-82CE-8DBF6730F59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44972-5B37-42E7-9449-D3BA0BF560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45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CEE3D-E490-48C4-9EDD-A3D64349DFA9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4B91A-AC4F-4911-8401-AA8DD14F283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85A95DA0-4CC3-42BB-A186-3CFB82C7DFEA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>
                <a:solidFill>
                  <a:schemeClr val="bg1">
                    <a:alpha val="75000"/>
                  </a:schemeClr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6201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B70CB6-23E9-4FFC-BB1B-65EBB0571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5333969" cy="2393952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</a:t>
            </a:r>
          </a:p>
          <a:p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 dirty="0"/>
              <a:t>Drag picture to placeholder </a:t>
            </a:r>
          </a:p>
          <a:p>
            <a:pPr marL="228600" lvl="0" indent="-228600" algn="ctr"/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0A698-E7DB-4624-B7D9-5624ABB23E77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00E20-EA02-4CDC-95F3-0B3EA7041BD7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270D0A86-B078-47E6-B09D-9429129BD76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>
                <a:solidFill>
                  <a:schemeClr val="bg1">
                    <a:alpha val="75000"/>
                  </a:schemeClr>
                </a:solidFill>
              </a:rPr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36206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ED2B-6496-48D2-9FCC-98A919B6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5338B-4F4A-4077-99F7-2698BAA545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69CB13A-E4BB-46D3-936E-B4BD4E53CAA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23365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68B3B-7EEB-4EA8-993C-430603A16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A01CF-71D3-40C7-8168-8E9BC701A2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CC9D1668-977E-453D-82ED-6ABCFF2804F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36137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headline here 54pt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91A68-0526-4B10-8725-674ED46D4C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A03CB-4264-4F68-9F35-0391A50E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BF2708B-7411-439F-ACDE-ACBD46CABC03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17234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E258A-0B44-43BE-A3B3-ECE0D5D5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1A548-5D5A-420A-BF48-ADAACADF16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Palatino Linotype" panose="02040502050505030304" pitchFamily="18" charset="0"/>
              </a:defRPr>
            </a:lvl1pPr>
          </a:lstStyle>
          <a:p>
            <a:pPr lvl="0"/>
            <a:r>
              <a:rPr lang="en-GB" dirty="0"/>
              <a:t>Place subtitle here in Palatino Linotype 20pt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3B5648-1933-4CE2-8092-54D37C74B7B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77EF44-2533-4C8A-9BCE-17E84D8B3A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6A793-E8C8-48E9-8AD9-3AA61015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C117D-BB63-449A-A809-AA330D35AF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(bullet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7455F6FE-666E-402E-9B6E-AF3462A6F6CE}"/>
              </a:ext>
            </a:extLst>
          </p:cNvPr>
          <p:cNvSpPr txBox="1">
            <a:spLocks/>
          </p:cNvSpPr>
          <p:nvPr userDrawn="1"/>
        </p:nvSpPr>
        <p:spPr>
          <a:xfrm>
            <a:off x="7315200" y="6493507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en-US" dirty="0"/>
              <a:t>Copyright © 2024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29" r:id="rId2"/>
    <p:sldLayoutId id="2147483682" r:id="rId3"/>
    <p:sldLayoutId id="2147483734" r:id="rId4"/>
    <p:sldLayoutId id="2147483728" r:id="rId5"/>
    <p:sldLayoutId id="2147483733" r:id="rId6"/>
    <p:sldLayoutId id="2147483730" r:id="rId7"/>
    <p:sldLayoutId id="2147483681" r:id="rId8"/>
    <p:sldLayoutId id="2147483732" r:id="rId9"/>
    <p:sldLayoutId id="2147483731" r:id="rId10"/>
    <p:sldLayoutId id="2147483750" r:id="rId11"/>
    <p:sldLayoutId id="2147483649" r:id="rId12"/>
    <p:sldLayoutId id="2147483759" r:id="rId13"/>
    <p:sldLayoutId id="2147483760" r:id="rId14"/>
    <p:sldLayoutId id="2147483746" r:id="rId15"/>
    <p:sldLayoutId id="2147483751" r:id="rId16"/>
    <p:sldLayoutId id="2147483752" r:id="rId17"/>
    <p:sldLayoutId id="2147483748" r:id="rId18"/>
    <p:sldLayoutId id="2147483651" r:id="rId19"/>
    <p:sldLayoutId id="2147483721" r:id="rId20"/>
    <p:sldLayoutId id="2147483739" r:id="rId21"/>
    <p:sldLayoutId id="2147483737" r:id="rId22"/>
    <p:sldLayoutId id="2147483742" r:id="rId23"/>
    <p:sldLayoutId id="2147483724" r:id="rId24"/>
    <p:sldLayoutId id="2147483723" r:id="rId25"/>
    <p:sldLayoutId id="2147483725" r:id="rId26"/>
    <p:sldLayoutId id="2147483755" r:id="rId27"/>
    <p:sldLayoutId id="2147483757" r:id="rId28"/>
    <p:sldLayoutId id="2147483673" r:id="rId29"/>
    <p:sldLayoutId id="2147483653" r:id="rId30"/>
    <p:sldLayoutId id="2147483722" r:id="rId31"/>
    <p:sldLayoutId id="2147483693" r:id="rId32"/>
    <p:sldLayoutId id="2147483701" r:id="rId33"/>
    <p:sldLayoutId id="2147483668" r:id="rId34"/>
    <p:sldLayoutId id="2147483707" r:id="rId35"/>
    <p:sldLayoutId id="2147483714" r:id="rId36"/>
    <p:sldLayoutId id="2147483657" r:id="rId37"/>
    <p:sldLayoutId id="2147483679" r:id="rId38"/>
    <p:sldLayoutId id="2147483661" r:id="rId39"/>
    <p:sldLayoutId id="2147483754" r:id="rId40"/>
    <p:sldLayoutId id="2147483678" r:id="rId41"/>
    <p:sldLayoutId id="2147483663" r:id="rId42"/>
    <p:sldLayoutId id="2147483667" r:id="rId43"/>
    <p:sldLayoutId id="2147483726" r:id="rId44"/>
    <p:sldLayoutId id="2147483688" r:id="rId45"/>
    <p:sldLayoutId id="2147483655" r:id="rId46"/>
    <p:sldLayoutId id="2147483745" r:id="rId47"/>
    <p:sldLayoutId id="2147483741" r:id="rId48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FB5035-7C72-43BF-A8DB-A7280ED54461}"/>
              </a:ext>
            </a:extLst>
          </p:cNvPr>
          <p:cNvSpPr>
            <a:spLocks noGrp="1"/>
          </p:cNvSpPr>
          <p:nvPr>
            <p:ph type="ctrTitle"/>
          </p:nvPr>
        </p:nvSpPr>
        <p:spPr bwMode="white"/>
        <p:txBody>
          <a:bodyPr/>
          <a:lstStyle/>
          <a:p>
            <a:r>
              <a:rPr lang="en-US" dirty="0"/>
              <a:t>Place presentation title here 48pt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1244AFF-6411-4B84-BA88-9244C01259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white"/>
        <p:txBody>
          <a:bodyPr/>
          <a:lstStyle/>
          <a:p>
            <a:r>
              <a:rPr lang="en-GB" dirty="0"/>
              <a:t>Place subtitle here in Palatino Linotype 24pt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9C304-423F-4288-926C-47BD259C67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/>
        <p:txBody>
          <a:bodyPr/>
          <a:lstStyle/>
          <a:p>
            <a:r>
              <a:rPr lang="en-GB" dirty="0"/>
              <a:t>Presenter</a:t>
            </a:r>
            <a:r>
              <a:rPr lang="en-US" dirty="0"/>
              <a:t> 14pt</a:t>
            </a:r>
          </a:p>
        </p:txBody>
      </p:sp>
    </p:spTree>
    <p:extLst>
      <p:ext uri="{BB962C8B-B14F-4D97-AF65-F5344CB8AC3E}">
        <p14:creationId xmlns:p14="http://schemas.microsoft.com/office/powerpoint/2010/main" val="217193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BAF5AE-9728-3224-DA70-C3BA9A2D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 Cases - </a:t>
            </a:r>
            <a:r>
              <a:rPr lang="de-DE" dirty="0" err="1"/>
              <a:t>Merge</a:t>
            </a:r>
            <a:endParaRPr lang="de-D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6DB06D-B1A4-A184-AAD9-B48A4677369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CC1216-5475-FA7B-D47A-0804B67D9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001787"/>
            <a:ext cx="6344292" cy="5310113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491992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D731D-4F92-79AC-0A9C-4846A66C9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 Cases - SELECT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DD3D3-1F67-9C32-97AE-1D47D0D35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A97C8E-E0DA-E3C8-030D-91580573E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32" y="1371600"/>
            <a:ext cx="11403041" cy="417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837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5F4D680-68C0-4622-D32A-E3C7DF181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T-Shirt L – Customer Environment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0C7095-9D22-667A-6AD0-243D75F30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08" y="1384269"/>
            <a:ext cx="7772400" cy="34332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712B6E4-6ED1-DAF1-086D-1EBE906EF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975" y="1371600"/>
            <a:ext cx="2677663" cy="4727749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172851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FA9ED-2EF2-E9E1-604C-73DD9C7FB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T-Shirt L – Customer Environment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C55B2-5CF8-3797-034F-EEAD932E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C4D250-BF54-587B-0479-9E7980110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112508"/>
            <a:ext cx="6726937" cy="51993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A07A5F0-6C82-0E1C-D0C4-8164D0D3C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975" y="1371600"/>
            <a:ext cx="2677663" cy="4727749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491207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36B83-08E0-A5F0-15F2-D005B9E1A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T-Shirt L – Customer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4ABA4-D3EF-D74A-2FC5-0217121E105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BBB19-6824-B37D-F91C-545E0669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1210FF-E954-FAA2-B0D1-35B522616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876300"/>
            <a:ext cx="6726937" cy="569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3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B5DB7-5436-01AB-0DDF-5489B9B1D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T-Shirt L – Customer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7B515-CD7A-4075-C975-96801B5EC1D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==== Merge Summary Table ====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es_ts_1_l  es_ts_2_l  es_ts_3_l  es_ts_4_l  es_ts_5_l  es_ts_6_l  es_ts_7_l  es_ts_8_l  es_ts_9_l  es_ts_10_l  es_ts_11_l  es_ts_12_l  es_ts_13_l  es_ts_14_l  es_ts_15_l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count     150.000    143.000    148.000    136.000    144.000    150.000    147.000    145.000    141.000     136.000     149.000     139.000     145.000     148.000     137.000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avg        17.550     16.301     20.150     19.735     19.393     17.811     16.518     20.182     19.364      13.008      15.358      19.463      19.433      16.160      16.496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median     16.955     16.100     19.110     19.115     19.245     17.240     16.180     19.150     18.830      12.070      14.550      18.600      18.470      15.995      16.230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min        12.190     12.010     13.420     13.260     13.650     12.100     11.880     13.520     13.490       8.260       9.110      13.200      13.470      11.820      11.740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max        25.120     22.590     29.950     33.380     27.910     27.240     23.530     31.810     27.950      25.060      28.270      31.790      31.230      23.010      25.830</a:t>
            </a:r>
          </a:p>
          <a:p>
            <a:pPr marL="0" indent="0">
              <a:buNone/>
            </a:pP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std         3.150      2.582      3.976      4.040      3.220      3.390      2.687      4.182      3.441       3.707       4.188       3.890       4.073       2.630       2.920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4E3EA-B9D1-5684-5A76-3D40BAB3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436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2DC25-B358-5848-84B8-D9A137983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BE3B3-690C-C6E1-D3B0-BD94BE0B8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T-Shirt L – Customer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01841-593A-3C09-BF3A-887931F2385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66344" y="1054608"/>
            <a:ext cx="11430000" cy="4940300"/>
          </a:xfrm>
        </p:spPr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==== Query Summary: SCD2_SELECT_COUNT_BY_GENDER ====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ts_1    ts_2    ts_3    ts_4    ts_5    ts_6    ts_7    ts_8    ts_9   ts_10   ts_11   ts_12   ts_13   ts_14   ts_15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47.000  43.000  50.000  49.000  45.000  48.000  49.000  50.000  49.000  46.000  45.000  48.000  48.000  49.000  48.000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6.042   6.655   6.521   7.507   4.544   6.053   6.638   4.881   4.526   7.734   6.753   7.499   7.515   6.717   6.623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median   6.010   6.630   6.515   7.490   4.520   6.050   6.610   4.850   4.520   7.730   6.730   7.500   7.515   6.710   6.610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min      5.800   6.470   6.340   7.320   4.360   5.860   6.440   4.700   4.400   7.520   6.650   7.300   7.280   6.560   6.510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6.380   6.940   6.720   7.760   4.880   6.310   7.020   5.200   4.710   8.010   6.920   7.670   7.730   6.890   6.800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0.122   0.105   0.091   0.106   0.124   0.104   0.138   0.123   0.066   0.119   0.080   0.100   0.111   0.071   0.076</a:t>
            </a:r>
          </a:p>
          <a:p>
            <a:pPr marL="0" indent="0">
              <a:spcAft>
                <a:spcPts val="0"/>
              </a:spcAft>
              <a:buNone/>
            </a:pPr>
            <a:endParaRPr lang="de-DE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==== Query Summary: SCD2_SELECT_ONE ====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ts_1    ts_2    ts_3    ts_4    ts_5    ts_6    ts_7    ts_8    ts_9   ts_10   ts_11   ts_12   ts_13   ts_14   ts_15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48.000  40.000  46.000  45.000  46.000  44.000  44.000  48.000  49.000  42.000  44.000  46.000  49.000  48.000  47.000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0.528   0.720   0.774   0.840   0.621   0.514   0.722   0.504   0.606   0.431   0.529   0.791   0.772   0.825   0.673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median   0.520   0.700   0.770   0.810   0.610   0.510   0.700   0.495   0.540   0.430   0.500   0.740   0.760   0.815   0.650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min      0.430   0.560   0.650   0.610   0.460   0.420   0.550   0.400   0.450   0.340   0.350   0.560   0.590   0.610   0.520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0.610   1.120   0.910   1.280   0.860   0.690   1.040   0.660   0.950   0.610   0.870   1.250   0.980   1.090   0.920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0.043   0.113   0.060   0.138   0.111   0.059   0.119   0.061   0.131   0.060   0.117   0.166   0.101   0.122   0.109</a:t>
            </a:r>
          </a:p>
          <a:p>
            <a:pPr marL="0" indent="0">
              <a:spcAft>
                <a:spcPts val="0"/>
              </a:spcAft>
              <a:buNone/>
            </a:pPr>
            <a:endParaRPr lang="de-DE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==== Query Summary: SCD2_SELECT_COUNT_CURRENT ====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ts_1    ts_2    ts_3    ts_4    ts_5    ts_6    ts_7    ts_8    ts_9   ts_10   ts_11   ts_12   ts_13   ts_14   ts_15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44.000  46.000  49.000  50.000  47.000  46.000  46.000  47.000  48.000  47.000  46.000  47.000  48.000  48.000  47.000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0.118   0.151   0.163   0.165   0.129   0.129   0.133   0.127   0.128   0.152   0.137   0.171   0.174   0.179   0.144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median   0.110   0.140   0.150   0.160   0.120   0.125   0.130   0.130   0.120   0.140   0.130   0.160   0.180   0.175   0.140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min      0.090   0.090   0.110   0.100   0.090   0.090   0.080   0.080   0.090   0.110   0.080   0.110   0.120   0.110   0.100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0.170   0.250   0.260   0.260   0.200   0.210   0.230   0.190   0.210   0.220   0.230   0.300   0.240   0.270   0.230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0.020   0.047   0.040   0.040   0.026   0.028   0.034   0.025   0.031   0.029   0.035   0.047   0.031   0.041   0.035</a:t>
            </a:r>
          </a:p>
          <a:p>
            <a:pPr marL="0" indent="0">
              <a:spcAft>
                <a:spcPts val="0"/>
              </a:spcAft>
              <a:buNone/>
            </a:pPr>
            <a:endParaRPr lang="de-DE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==== Query Summary: SCD2_SELECT_NOF_PERSONS_IN_CH_ON_DAY ====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ts_1    ts_2    ts_3    ts_4    ts_5    ts_6    ts_7    ts_8    ts_9   ts_10   ts_11   ts_12   ts_13   ts_14   ts_15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47.000  44.000  47.000  49.000  47.000  48.000  47.000  49.000  47.000  44.000  43.000  48.000  50.000  48.000  46.000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0.174   0.283   0.227   0.304   0.239   0.193   0.246   0.181   0.244   0.251   0.270   0.332   0.290   0.273   0.238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median   0.180   0.280   0.220   0.280   0.240   0.190   0.240   0.180   0.210   0.245   0.270   0.300   0.280   0.275   0.225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min      0.130   0.180   0.170   0.190   0.160   0.150   0.170   0.130   0.160   0.190   0.170   0.190   0.200   0.190   0.170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0.230   0.470   0.320   0.540   0.320   0.260   0.350   0.260   0.420   0.380   0.510   0.710   0.470   0.380   0.370</a:t>
            </a:r>
          </a:p>
          <a:p>
            <a:pPr marL="0" indent="0">
              <a:spcAft>
                <a:spcPts val="0"/>
              </a:spcAft>
              <a:buNone/>
            </a:pPr>
            <a:r>
              <a:rPr lang="de-DE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de-DE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0.022   0.070   0.034   0.085   0.044   0.029   0.047   0.029   0.066   0.046   0.075   0.117   0.066   0.050   0.044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AC32B-7C14-F066-5167-221141E3D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677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6DCA-E252-45B6-8790-F0CA74EA4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8524515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Acc_PPT_IMP_Tmplt_Arial_Fixed-Accessibility_2024" id="{933D12F4-E6D8-2544-BB9E-9972CA3939D1}" vid="{E17AB01B-D3BF-AE46-80F5-E0B27047D7E1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6E8BD94-4C5F-4212-A7B2-A3B2366772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Accenture 2020</Template>
  <TotalTime>1686</TotalTime>
  <Words>885</Words>
  <Application>Microsoft Macintosh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Courier New</vt:lpstr>
      <vt:lpstr>Palatino Linotype</vt:lpstr>
      <vt:lpstr>System Font</vt:lpstr>
      <vt:lpstr>Accenture 2020</vt:lpstr>
      <vt:lpstr>Place presentation title here 48pt</vt:lpstr>
      <vt:lpstr>Test Cases - Merge</vt:lpstr>
      <vt:lpstr>Test Cases - SELECT</vt:lpstr>
      <vt:lpstr>T-Shirt L – Customer Environment</vt:lpstr>
      <vt:lpstr>T-Shirt L – Customer Environment</vt:lpstr>
      <vt:lpstr>T-Shirt L – Customer Environment</vt:lpstr>
      <vt:lpstr>T-Shirt L – Customer Environment</vt:lpstr>
      <vt:lpstr>T-Shirt L – Customer Environment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Accenture PowerPoint Template 16x9 Arial</dc:subject>
  <dc:creator>Schmutz Guido</dc:creator>
  <cp:lastModifiedBy>Schmutz Guido</cp:lastModifiedBy>
  <cp:revision>3</cp:revision>
  <cp:lastPrinted>2020-11-17T04:05:48Z</cp:lastPrinted>
  <dcterms:created xsi:type="dcterms:W3CDTF">2026-01-07T09:50:48Z</dcterms:created>
  <dcterms:modified xsi:type="dcterms:W3CDTF">2026-01-28T09:27:15Z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